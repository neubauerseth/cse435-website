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9144000"/>
  <p:notesSz cx="6858000" cy="9144000"/>
  <p:embeddedFontLst>
    <p:embeddedFont>
      <p:font typeface="Helvetica Neue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8" roundtripDataSignature="AMtx7mi+ToISsBvotZkqMpabagW7foOJ7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HelveticaNeue-regular.fntdata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HelveticaNeue-italic.fntdata"/><Relationship Id="rId25" Type="http://schemas.openxmlformats.org/officeDocument/2006/relationships/font" Target="fonts/HelveticaNeue-bold.fntdata"/><Relationship Id="rId28" Type="http://customschemas.google.com/relationships/presentationmetadata" Target="metadata"/><Relationship Id="rId27" Type="http://schemas.openxmlformats.org/officeDocument/2006/relationships/font" Target="fonts/HelveticaNeue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1" name="Google Shape;10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07" name="Google Shape;107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accbe5354_1_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14" name="Google Shape;114;g3aaccbe5354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" name="Google Shape;115;g3aaccbe5354_1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accbe5354_1_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1" name="Google Shape;121;g3aaccbe5354_1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g3aaccbe5354_1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accbe5354_1_1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28" name="Google Shape;128;g3aaccbe5354_1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" name="Google Shape;129;g3aaccbe5354_1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aaccbe5354_1_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35" name="Google Shape;135;g3aaccbe5354_1_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g3aaccbe5354_1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accbe5354_1_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42" name="Google Shape;142;g3aaccbe5354_1_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g3aaccbe5354_1_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123771e61_3_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0" name="Google Shape;150;g39123771e61_3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" name="Google Shape;151;g39123771e61_3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9123771e61_4_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58" name="Google Shape;158;g39123771e61_4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g39123771e61_4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123771e61_4_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66" name="Google Shape;166;g39123771e61_4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" name="Google Shape;167;g39123771e61_4_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123771e61_4_1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74" name="Google Shape;174;g39123771e61_4_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" name="Google Shape;175;g39123771e61_4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123771e61_4_2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82" name="Google Shape;182;g39123771e61_4_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" name="Google Shape;183;g39123771e61_4_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9123771e61_4_2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0" name="Google Shape;190;g39123771e61_4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" name="Google Shape;191;g39123771e61_4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9123771e61_4_3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198" name="Google Shape;198;g39123771e61_4_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g39123771e61_4_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ab9a7743ce_0_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206" name="Google Shape;206;g3ab9a7743ce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g3ab9a7743ce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 rot="5400000">
            <a:off x="5010150" y="2343150"/>
            <a:ext cx="548640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 rot="5400000">
            <a:off x="895350" y="400050"/>
            <a:ext cx="5486400" cy="59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 rot="5400000">
            <a:off x="2514600" y="152400"/>
            <a:ext cx="4114800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36" name="Google Shape;36;p12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43" name="Google Shape;43;p13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/>
            </a:lvl9pPr>
          </a:lstStyle>
          <a:p/>
        </p:txBody>
      </p:sp>
      <p:sp>
        <p:nvSpPr>
          <p:cNvPr id="49" name="Google Shape;49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/>
            </a:lvl9pPr>
          </a:lstStyle>
          <a:p/>
        </p:txBody>
      </p:sp>
      <p:sp>
        <p:nvSpPr>
          <p:cNvPr id="50" name="Google Shape;50;p14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6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6" name="Google Shape;66;p1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b="1" sz="1600"/>
            </a:lvl9pPr>
          </a:lstStyle>
          <a:p/>
        </p:txBody>
      </p:sp>
      <p:sp>
        <p:nvSpPr>
          <p:cNvPr id="67" name="Google Shape;67;p1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/>
            </a:lvl9pPr>
          </a:lstStyle>
          <a:p/>
        </p:txBody>
      </p:sp>
      <p:sp>
        <p:nvSpPr>
          <p:cNvPr id="68" name="Google Shape;68;p17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" type="body"/>
          </p:nvPr>
        </p:nvSpPr>
        <p:spPr>
          <a:xfrm>
            <a:off x="6858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4" name="Google Shape;74;p18"/>
          <p:cNvSpPr txBox="1"/>
          <p:nvPr>
            <p:ph idx="2" type="body"/>
          </p:nvPr>
        </p:nvSpPr>
        <p:spPr>
          <a:xfrm>
            <a:off x="4648200" y="19812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/>
            </a:lvl9pPr>
          </a:lstStyle>
          <a:p/>
        </p:txBody>
      </p:sp>
      <p:sp>
        <p:nvSpPr>
          <p:cNvPr id="75" name="Google Shape;75;p1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/>
            </a:lvl9pPr>
          </a:lstStyle>
          <a:p/>
        </p:txBody>
      </p:sp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8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b="0" i="0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b="0" i="0" sz="2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b="0" i="0" sz="2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b="0" i="0" sz="20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0" type="dt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b="0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://drive.google.com/file/d/1hoKfofVPZ6bjkopxzwWLEHDM500v0-oD/view" TargetMode="External"/><Relationship Id="rId4" Type="http://schemas.openxmlformats.org/officeDocument/2006/relationships/image" Target="../media/image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838200" y="685800"/>
            <a:ext cx="77724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Overview of </a:t>
            </a:r>
            <a:r>
              <a:rPr lang="en-US"/>
              <a:t>ADB</a:t>
            </a:r>
            <a:b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Software Engineering CSE435</a:t>
            </a:r>
            <a:b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Michigan State University</a:t>
            </a:r>
            <a:b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Fall 20</a:t>
            </a:r>
            <a:r>
              <a:rPr lang="en-US" sz="2400"/>
              <a:t>25</a:t>
            </a:r>
            <a:endParaRPr/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685800" y="3130100"/>
            <a:ext cx="80772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Team members: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Manager: Anthony Ghaith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Facilitator:  Naod Ghebredngl</a:t>
            </a:r>
            <a:endParaRPr b="0" i="0" sz="16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1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lang="en-US" sz="1600"/>
              <a:t>Artifacts Manager: Seth Neubauer</a:t>
            </a:r>
            <a:endParaRPr sz="1600"/>
          </a:p>
          <a:p>
            <a:pPr indent="0" lvl="1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 </a:t>
            </a:r>
            <a:r>
              <a:rPr lang="en-US" sz="1600"/>
              <a:t>Liaison</a:t>
            </a: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Almostafa A</a:t>
            </a:r>
            <a:r>
              <a:rPr lang="en-US" sz="1600"/>
              <a:t>alabdulrasul</a:t>
            </a:r>
            <a:endParaRPr/>
          </a:p>
          <a:p>
            <a:pPr indent="0" lvl="1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Configuration Manager:  Mat</a:t>
            </a:r>
            <a:r>
              <a:rPr lang="en-US" sz="1600"/>
              <a:t>thew Vazquez</a:t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Customer: Mr. Jacob </a:t>
            </a:r>
            <a:r>
              <a:rPr lang="en-US" sz="2800"/>
              <a:t>Rhodes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Instructor: </a:t>
            </a:r>
            <a:r>
              <a:rPr b="0" i="0" lang="en-US" sz="24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Dr. Betty H.C. Cheng*</a:t>
            </a:r>
            <a:endParaRPr b="0" i="0" sz="2800" u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</a:pPr>
            <a:r>
              <a:rPr b="0" i="0" lang="en-US" sz="16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*Please direct all inquiries to the instructor. </a:t>
            </a:r>
            <a:r>
              <a:rPr b="0" i="0" lang="en-US" sz="28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Project Overview</a:t>
            </a:r>
            <a:endParaRPr/>
          </a:p>
        </p:txBody>
      </p:sp>
      <p:sp>
        <p:nvSpPr>
          <p:cNvPr id="97" name="Google Shape;97;p2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</a:t>
            </a:r>
            <a:r>
              <a:rPr b="1" lang="en-US"/>
              <a:t> </a:t>
            </a:r>
            <a:r>
              <a:rPr lang="en-US"/>
              <a:t>Adaptive Driving Beam</a:t>
            </a:r>
            <a:r>
              <a:rPr lang="en-US"/>
              <a:t> (ADB) System provides maximum visibility while preventing glare to drivers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Motivation for project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Better </a:t>
            </a:r>
            <a:r>
              <a:rPr lang="en-US"/>
              <a:t>visibility </a:t>
            </a:r>
            <a:r>
              <a:rPr lang="en-US"/>
              <a:t>at night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Improve safety and comfort during nighttime driving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Overview of Features</a:t>
            </a:r>
            <a:endParaRPr/>
          </a:p>
        </p:txBody>
      </p:sp>
      <p:sp>
        <p:nvSpPr>
          <p:cNvPr id="104" name="Google Shape;104;p3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Aligns beam angle with curvature of the road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Adjusts illumination levels to improve visibility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Updates beam pattern according to the current weather conditions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Domain Research</a:t>
            </a:r>
            <a:endParaRPr/>
          </a:p>
        </p:txBody>
      </p:sp>
      <p:sp>
        <p:nvSpPr>
          <p:cNvPr id="111" name="Google Shape;111;p4"/>
          <p:cNvSpPr txBox="1"/>
          <p:nvPr>
            <p:ph idx="1" type="body"/>
          </p:nvPr>
        </p:nvSpPr>
        <p:spPr>
          <a:xfrm>
            <a:off x="376650" y="2028525"/>
            <a:ext cx="8390700" cy="47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Investigated </a:t>
            </a:r>
            <a:r>
              <a:rPr lang="en-US"/>
              <a:t>headlight functionality and restrictions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Needed to apply functionality to scenarios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Project Constraints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Must minimize glare to oncoming vehicles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Must fail safely if sensor fault detected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</a:pPr>
            <a:r>
              <a:rPr lang="en-US"/>
              <a:t>Detect conditions with vehicle’s built in detection hardware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aaccbe5354_1_0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II: Model-based View of System </a:t>
            </a:r>
            <a:endParaRPr/>
          </a:p>
        </p:txBody>
      </p:sp>
      <p:pic>
        <p:nvPicPr>
          <p:cNvPr id="118" name="Google Shape;118;g3aaccbe5354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4400" y="1860125"/>
            <a:ext cx="7757651" cy="4800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accbe5354_1_8"/>
          <p:cNvSpPr txBox="1"/>
          <p:nvPr/>
        </p:nvSpPr>
        <p:spPr>
          <a:xfrm>
            <a:off x="779850" y="979225"/>
            <a:ext cx="758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Activating System</a:t>
            </a:r>
            <a:endParaRPr sz="3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" name="Google Shape;125;g3aaccbe5354_1_8"/>
          <p:cNvPicPr preferRelativeResize="0"/>
          <p:nvPr/>
        </p:nvPicPr>
        <p:blipFill rotWithShape="1">
          <a:blip r:embed="rId3">
            <a:alphaModFix/>
          </a:blip>
          <a:srcRect b="79816" l="7929" r="39204" t="0"/>
          <a:stretch/>
        </p:blipFill>
        <p:spPr>
          <a:xfrm>
            <a:off x="779850" y="2769200"/>
            <a:ext cx="8168725" cy="19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g3aaccbe5354_1_14"/>
          <p:cNvPicPr preferRelativeResize="0"/>
          <p:nvPr/>
        </p:nvPicPr>
        <p:blipFill rotWithShape="1">
          <a:blip r:embed="rId3">
            <a:alphaModFix/>
          </a:blip>
          <a:srcRect b="58767" l="35505" r="783" t="19296"/>
          <a:stretch/>
        </p:blipFill>
        <p:spPr>
          <a:xfrm>
            <a:off x="363200" y="2442675"/>
            <a:ext cx="8709574" cy="175705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aaccbe5354_1_14"/>
          <p:cNvSpPr txBox="1"/>
          <p:nvPr/>
        </p:nvSpPr>
        <p:spPr>
          <a:xfrm>
            <a:off x="779850" y="979225"/>
            <a:ext cx="758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Securing Messages</a:t>
            </a:r>
            <a:endParaRPr sz="3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g3aaccbe5354_1_19"/>
          <p:cNvPicPr preferRelativeResize="0"/>
          <p:nvPr/>
        </p:nvPicPr>
        <p:blipFill rotWithShape="1">
          <a:blip r:embed="rId3">
            <a:alphaModFix/>
          </a:blip>
          <a:srcRect b="2952" l="1857" r="10546" t="47837"/>
          <a:stretch/>
        </p:blipFill>
        <p:spPr>
          <a:xfrm>
            <a:off x="0" y="1924038"/>
            <a:ext cx="9144001" cy="300993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aaccbe5354_1_19"/>
          <p:cNvSpPr txBox="1"/>
          <p:nvPr/>
        </p:nvSpPr>
        <p:spPr>
          <a:xfrm>
            <a:off x="779850" y="979225"/>
            <a:ext cx="758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Sending Commands to Beam</a:t>
            </a:r>
            <a:endParaRPr sz="3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g3aaccbe5354_1_24"/>
          <p:cNvPicPr preferRelativeResize="0"/>
          <p:nvPr/>
        </p:nvPicPr>
        <p:blipFill rotWithShape="1">
          <a:blip r:embed="rId3">
            <a:alphaModFix/>
          </a:blip>
          <a:srcRect b="60100" l="8437" r="36201" t="2350"/>
          <a:stretch/>
        </p:blipFill>
        <p:spPr>
          <a:xfrm>
            <a:off x="591588" y="2067030"/>
            <a:ext cx="7960825" cy="3163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aaccbe5354_1_24"/>
          <p:cNvSpPr/>
          <p:nvPr/>
        </p:nvSpPr>
        <p:spPr>
          <a:xfrm>
            <a:off x="1851600" y="883075"/>
            <a:ext cx="6772500" cy="3215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7" name="Google Shape;147;g3aaccbe5354_1_24"/>
          <p:cNvSpPr txBox="1"/>
          <p:nvPr/>
        </p:nvSpPr>
        <p:spPr>
          <a:xfrm>
            <a:off x="779850" y="979225"/>
            <a:ext cx="75843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Alerting Driver</a:t>
            </a:r>
            <a:endParaRPr sz="32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9123771e61_3_0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III: Demonstration</a:t>
            </a:r>
            <a:endParaRPr/>
          </a:p>
        </p:txBody>
      </p:sp>
      <p:sp>
        <p:nvSpPr>
          <p:cNvPr id="154" name="Google Shape;154;g39123771e61_3_0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The demo showcases </a:t>
            </a:r>
            <a:r>
              <a:rPr lang="en-US"/>
              <a:t>a car</a:t>
            </a:r>
            <a:r>
              <a:rPr lang="en-US"/>
              <a:t> on a track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Buttons allow user to interact with environment</a:t>
            </a:r>
            <a:endParaRPr/>
          </a:p>
        </p:txBody>
      </p:sp>
      <p:pic>
        <p:nvPicPr>
          <p:cNvPr id="155" name="Google Shape;155;g39123771e61_3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2475" y="3584496"/>
            <a:ext cx="5599048" cy="306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9123771e61_4_0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lang="en-US"/>
              <a:t>Scenario 1</a:t>
            </a:r>
            <a:endParaRPr/>
          </a:p>
        </p:txBody>
      </p:sp>
      <p:sp>
        <p:nvSpPr>
          <p:cNvPr id="162" name="Google Shape;162;g39123771e61_4_0"/>
          <p:cNvSpPr txBox="1"/>
          <p:nvPr>
            <p:ph idx="1" type="body"/>
          </p:nvPr>
        </p:nvSpPr>
        <p:spPr>
          <a:xfrm>
            <a:off x="685800" y="1981200"/>
            <a:ext cx="7769100" cy="4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ADB system with road clear</a:t>
            </a:r>
            <a:endParaRPr/>
          </a:p>
        </p:txBody>
      </p:sp>
      <p:pic>
        <p:nvPicPr>
          <p:cNvPr id="163" name="Google Shape;163;g39123771e61_4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13" y="2844200"/>
            <a:ext cx="7048575" cy="37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123771e61_4_8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Scenario 2</a:t>
            </a:r>
            <a:endParaRPr/>
          </a:p>
        </p:txBody>
      </p:sp>
      <p:sp>
        <p:nvSpPr>
          <p:cNvPr id="170" name="Google Shape;170;g39123771e61_4_8"/>
          <p:cNvSpPr txBox="1"/>
          <p:nvPr>
            <p:ph idx="1" type="body"/>
          </p:nvPr>
        </p:nvSpPr>
        <p:spPr>
          <a:xfrm>
            <a:off x="685800" y="1981200"/>
            <a:ext cx="7769100" cy="4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ADB system when car detected</a:t>
            </a:r>
            <a:endParaRPr/>
          </a:p>
        </p:txBody>
      </p:sp>
      <p:pic>
        <p:nvPicPr>
          <p:cNvPr id="171" name="Google Shape;171;g39123771e61_4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2675" y="2631800"/>
            <a:ext cx="7039600" cy="391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123771e61_4_15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Scenario 3</a:t>
            </a:r>
            <a:endParaRPr/>
          </a:p>
        </p:txBody>
      </p:sp>
      <p:sp>
        <p:nvSpPr>
          <p:cNvPr id="178" name="Google Shape;178;g39123771e61_4_15"/>
          <p:cNvSpPr txBox="1"/>
          <p:nvPr>
            <p:ph idx="1" type="body"/>
          </p:nvPr>
        </p:nvSpPr>
        <p:spPr>
          <a:xfrm>
            <a:off x="374400" y="1843250"/>
            <a:ext cx="8542800" cy="4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ADB system when curves/elevation change detected</a:t>
            </a:r>
            <a:endParaRPr/>
          </a:p>
        </p:txBody>
      </p:sp>
      <p:pic>
        <p:nvPicPr>
          <p:cNvPr id="179" name="Google Shape;179;g39123771e61_4_15"/>
          <p:cNvPicPr preferRelativeResize="0"/>
          <p:nvPr/>
        </p:nvPicPr>
        <p:blipFill rotWithShape="1">
          <a:blip r:embed="rId3">
            <a:alphaModFix/>
          </a:blip>
          <a:srcRect b="0" l="0" r="0" t="4415"/>
          <a:stretch/>
        </p:blipFill>
        <p:spPr>
          <a:xfrm>
            <a:off x="1438600" y="2995450"/>
            <a:ext cx="6811024" cy="361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9123771e61_4_22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Scenario 4</a:t>
            </a:r>
            <a:endParaRPr/>
          </a:p>
        </p:txBody>
      </p:sp>
      <p:sp>
        <p:nvSpPr>
          <p:cNvPr id="186" name="Google Shape;186;g39123771e61_4_22"/>
          <p:cNvSpPr txBox="1"/>
          <p:nvPr>
            <p:ph idx="1" type="body"/>
          </p:nvPr>
        </p:nvSpPr>
        <p:spPr>
          <a:xfrm>
            <a:off x="685800" y="1981200"/>
            <a:ext cx="7769100" cy="4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ADB system when failure detected</a:t>
            </a:r>
            <a:endParaRPr/>
          </a:p>
        </p:txBody>
      </p:sp>
      <p:pic>
        <p:nvPicPr>
          <p:cNvPr id="187" name="Google Shape;187;g39123771e61_4_22"/>
          <p:cNvPicPr preferRelativeResize="0"/>
          <p:nvPr/>
        </p:nvPicPr>
        <p:blipFill rotWithShape="1">
          <a:blip r:embed="rId3">
            <a:alphaModFix/>
          </a:blip>
          <a:srcRect b="0" l="0" r="0" t="4104"/>
          <a:stretch/>
        </p:blipFill>
        <p:spPr>
          <a:xfrm>
            <a:off x="1067900" y="2649750"/>
            <a:ext cx="7008201" cy="373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123771e61_4_29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Scenario 5</a:t>
            </a:r>
            <a:endParaRPr/>
          </a:p>
        </p:txBody>
      </p:sp>
      <p:sp>
        <p:nvSpPr>
          <p:cNvPr id="194" name="Google Shape;194;g39123771e61_4_29"/>
          <p:cNvSpPr txBox="1"/>
          <p:nvPr>
            <p:ph idx="1" type="body"/>
          </p:nvPr>
        </p:nvSpPr>
        <p:spPr>
          <a:xfrm>
            <a:off x="685800" y="1981200"/>
            <a:ext cx="7769100" cy="412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ADB system when fog detected</a:t>
            </a:r>
            <a:endParaRPr/>
          </a:p>
        </p:txBody>
      </p:sp>
      <p:pic>
        <p:nvPicPr>
          <p:cNvPr id="195" name="Google Shape;195;g39123771e61_4_29"/>
          <p:cNvPicPr preferRelativeResize="0"/>
          <p:nvPr/>
        </p:nvPicPr>
        <p:blipFill rotWithShape="1">
          <a:blip r:embed="rId3">
            <a:alphaModFix/>
          </a:blip>
          <a:srcRect b="0" l="0" r="0" t="4906"/>
          <a:stretch/>
        </p:blipFill>
        <p:spPr>
          <a:xfrm>
            <a:off x="1266163" y="2685775"/>
            <a:ext cx="6916476" cy="365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123771e61_4_36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>
                <a:solidFill>
                  <a:schemeClr val="dk1"/>
                </a:solidFill>
              </a:rPr>
              <a:t>Scenario 6</a:t>
            </a:r>
            <a:endParaRPr/>
          </a:p>
        </p:txBody>
      </p:sp>
      <p:sp>
        <p:nvSpPr>
          <p:cNvPr id="202" name="Google Shape;202;g39123771e61_4_36"/>
          <p:cNvSpPr txBox="1"/>
          <p:nvPr>
            <p:ph idx="1" type="body"/>
          </p:nvPr>
        </p:nvSpPr>
        <p:spPr>
          <a:xfrm>
            <a:off x="685800" y="1981200"/>
            <a:ext cx="77691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lang="en-US"/>
              <a:t>ADB system when heavy rain detected</a:t>
            </a:r>
            <a:endParaRPr/>
          </a:p>
        </p:txBody>
      </p:sp>
      <p:pic>
        <p:nvPicPr>
          <p:cNvPr id="203" name="Google Shape;203;g39123771e61_4_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1275" y="2754366"/>
            <a:ext cx="7321450" cy="3905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b9a7743ce_0_0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Part III: Demonstration</a:t>
            </a:r>
            <a:endParaRPr/>
          </a:p>
        </p:txBody>
      </p:sp>
      <p:pic>
        <p:nvPicPr>
          <p:cNvPr id="210" name="Google Shape;210;g3ab9a7743ce_0_0" title="ADB2 Scenario Prototype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6275" y="1634875"/>
            <a:ext cx="8931452" cy="495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7"/>
          <p:cNvSpPr txBox="1"/>
          <p:nvPr>
            <p:ph type="title"/>
          </p:nvPr>
        </p:nvSpPr>
        <p:spPr>
          <a:xfrm>
            <a:off x="685800" y="609600"/>
            <a:ext cx="80772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Acknowledgements</a:t>
            </a:r>
            <a:endParaRPr/>
          </a:p>
        </p:txBody>
      </p:sp>
      <p:sp>
        <p:nvSpPr>
          <p:cNvPr id="216" name="Google Shape;216;p7"/>
          <p:cNvSpPr txBox="1"/>
          <p:nvPr>
            <p:ph idx="1"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gratefully acknowledge and appreciate the participation of our customer, Mr. </a:t>
            </a:r>
            <a:r>
              <a:rPr lang="en-US"/>
              <a:t>Jacob Rhodes</a:t>
            </a:r>
            <a:r>
              <a:rPr lang="en-US">
                <a:solidFill>
                  <a:srgbClr val="FF0000"/>
                </a:solidFill>
              </a:rPr>
              <a:t> </a:t>
            </a:r>
            <a:r>
              <a:rPr b="0" i="0" lang="en-US" sz="32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from </a:t>
            </a:r>
            <a:r>
              <a:rPr b="0" i="0" lang="en-US" sz="3200" u="none" cap="none" strike="noStrike">
                <a:latin typeface="Helvetica Neue"/>
                <a:ea typeface="Helvetica Neue"/>
                <a:cs typeface="Helvetica Neue"/>
                <a:sym typeface="Helvetica Neue"/>
              </a:rPr>
              <a:t>Flex-N-Gate</a:t>
            </a:r>
            <a:endParaRPr b="0" i="0" sz="3200" u="none" cap="none" strike="noStrike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2540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Thank you to Professor Cheng, Kira, and Sol for teaching us this semester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1999-11-18T19:52:39Z</dcterms:created>
  <dc:creator>Dr. Betty H.C. Cheng</dc:creator>
</cp:coreProperties>
</file>